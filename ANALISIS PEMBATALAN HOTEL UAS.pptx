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388" y="-17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Frekuensi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49-4F2F-B3EA-98BB62CFEA89}"/>
              </c:ext>
            </c:extLst>
          </c:dPt>
          <c:dPt>
            <c:idx val="1"/>
            <c:invertIfNegative val="0"/>
            <c:bubble3D val="0"/>
            <c:spPr>
              <a:solidFill>
                <a:srgbClr val="5B8D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49-4F2F-B3EA-98BB62CFEA8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Tidak Dibatalkan (0)</c:v>
                </c:pt>
                <c:pt idx="1">
                  <c:v>Dibatalkan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599</c:v>
                </c:pt>
                <c:pt idx="1">
                  <c:v>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49-4F2F-B3EA-98BB62CFEA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1" i="0" u="none" strike="noStrike" dirty="0">
                <a:solidFill>
                  <a:srgbClr val="1E2761"/>
                </a:solidFill>
                <a:latin typeface="Arial"/>
              </a:rPr>
              <a:t>Kurva ROC Model Bayesian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Bayesian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0.3</c:v>
                </c:pt>
                <c:pt idx="6">
                  <c:v>0.4</c:v>
                </c:pt>
                <c:pt idx="7">
                  <c:v>0.5</c:v>
                </c:pt>
                <c:pt idx="8">
                  <c:v>0.6</c:v>
                </c:pt>
                <c:pt idx="9">
                  <c:v>0.7</c:v>
                </c:pt>
                <c:pt idx="10">
                  <c:v>0.8</c:v>
                </c:pt>
                <c:pt idx="11">
                  <c:v>0.9</c:v>
                </c:pt>
                <c:pt idx="12">
                  <c:v>1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0.12</c:v>
                </c:pt>
                <c:pt idx="2">
                  <c:v>0.22</c:v>
                </c:pt>
                <c:pt idx="3">
                  <c:v>0.31</c:v>
                </c:pt>
                <c:pt idx="4">
                  <c:v>0.39</c:v>
                </c:pt>
                <c:pt idx="5">
                  <c:v>0.52</c:v>
                </c:pt>
                <c:pt idx="6">
                  <c:v>0.62</c:v>
                </c:pt>
                <c:pt idx="7">
                  <c:v>0.71</c:v>
                </c:pt>
                <c:pt idx="8">
                  <c:v>0.79</c:v>
                </c:pt>
                <c:pt idx="9">
                  <c:v>0.86</c:v>
                </c:pt>
                <c:pt idx="10">
                  <c:v>0.92</c:v>
                </c:pt>
                <c:pt idx="11">
                  <c:v>0.97</c:v>
                </c:pt>
                <c:pt idx="12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17-4A57-84FC-B100060AF3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Classifier</c:v>
                </c:pt>
              </c:strCache>
            </c:strRef>
          </c:tx>
          <c:spPr>
            <a:ln w="25400" cap="flat">
              <a:solidFill>
                <a:srgbClr val="C7CFE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0.3</c:v>
                </c:pt>
                <c:pt idx="6">
                  <c:v>0.4</c:v>
                </c:pt>
                <c:pt idx="7">
                  <c:v>0.5</c:v>
                </c:pt>
                <c:pt idx="8">
                  <c:v>0.6</c:v>
                </c:pt>
                <c:pt idx="9">
                  <c:v>0.7</c:v>
                </c:pt>
                <c:pt idx="10">
                  <c:v>0.8</c:v>
                </c:pt>
                <c:pt idx="11">
                  <c:v>0.9</c:v>
                </c:pt>
                <c:pt idx="12">
                  <c:v>1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0.3</c:v>
                </c:pt>
                <c:pt idx="6">
                  <c:v>0.4</c:v>
                </c:pt>
                <c:pt idx="7">
                  <c:v>0.5</c:v>
                </c:pt>
                <c:pt idx="8">
                  <c:v>0.6</c:v>
                </c:pt>
                <c:pt idx="9">
                  <c:v>0.7</c:v>
                </c:pt>
                <c:pt idx="10">
                  <c:v>0.8</c:v>
                </c:pt>
                <c:pt idx="11">
                  <c:v>0.9</c:v>
                </c:pt>
                <c:pt idx="12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617-4A57-84FC-B100060AF3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False Positive Rate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A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True Positive Rate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386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8503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37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AKHIR SEMESTER · ANALISIS KEPUTUSAN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497784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Faktor yang Memengaruhi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Pembatalan Pemesanan Hotel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Februari 2015 — Pendekatan Bayesian Logistic Regression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66928" y="4892040"/>
            <a:ext cx="1463040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120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 Lizatul Ibadah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G1F02410035  · 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Statistika, FMIPA, Universitas Mataram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Kemudahan reservasi hotel secara daring meningkatkan fleksibilitas pelanggan, namun juga memunculkan tantangan baru bagi pihak hotel berupa pembatalan pemesanan kamar (booking cancellation) yang menyebabkan ketidakpastian tingkat hunian dan pendapatan.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faktor-faktor yang berkaitan dengan keputusan pembatalan memungkinkan hotel menyusun strategi pengelolaan reservasi yang lebih tepat dan efisien.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 ini menggunakan pendekatan Bayesian, yang menggabungkan informasi awal (prior) dengan data sampel (likelihood) untuk menghasilkan estimasi parameter yang lebih informatif.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0" y="1528010"/>
            <a:ext cx="4297680" cy="4572000"/>
          </a:xfrm>
          <a:prstGeom prst="roundRect">
            <a:avLst>
              <a:gd name="adj" fmla="val 2553"/>
            </a:avLst>
          </a:prstGeom>
          <a:solidFill>
            <a:srgbClr val="EAF1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8745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Ini Penting?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26680" y="2678230"/>
            <a:ext cx="201168" cy="20116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1" name="Text 8"/>
          <p:cNvSpPr/>
          <p:nvPr/>
        </p:nvSpPr>
        <p:spPr>
          <a:xfrm>
            <a:off x="8092440" y="25786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/>
              <a:t>Pembatalan</a:t>
            </a:r>
            <a:r>
              <a:rPr lang="en-US" sz="1200" dirty="0"/>
              <a:t> </a:t>
            </a:r>
            <a:r>
              <a:rPr lang="en-US" sz="1200" dirty="0" err="1"/>
              <a:t>pemesanan</a:t>
            </a:r>
            <a:r>
              <a:rPr lang="en-US" sz="1200" dirty="0"/>
              <a:t> </a:t>
            </a:r>
            <a:r>
              <a:rPr lang="en-US" sz="1200" dirty="0" err="1"/>
              <a:t>memengaruhi</a:t>
            </a:r>
            <a:r>
              <a:rPr lang="en-US" sz="1200" dirty="0"/>
              <a:t> </a:t>
            </a:r>
            <a:r>
              <a:rPr lang="en-US" sz="1200" dirty="0" err="1"/>
              <a:t>tingkat</a:t>
            </a:r>
            <a:r>
              <a:rPr lang="en-US" sz="1200" dirty="0"/>
              <a:t> </a:t>
            </a:r>
            <a:r>
              <a:rPr lang="en-US" sz="1200" dirty="0" err="1"/>
              <a:t>okupansi</a:t>
            </a:r>
            <a:r>
              <a:rPr lang="en-US" sz="1200" dirty="0"/>
              <a:t> </a:t>
            </a:r>
            <a:r>
              <a:rPr lang="en-US" sz="1200" dirty="0" err="1"/>
              <a:t>kamar</a:t>
            </a:r>
            <a:r>
              <a:rPr lang="en-US" sz="1200" dirty="0"/>
              <a:t> dan </a:t>
            </a:r>
            <a:r>
              <a:rPr lang="en-US" sz="1200" dirty="0" err="1"/>
              <a:t>pendapatan</a:t>
            </a:r>
            <a:r>
              <a:rPr lang="en-US" sz="1200" dirty="0"/>
              <a:t> hotel.</a:t>
            </a:r>
          </a:p>
        </p:txBody>
      </p:sp>
      <p:sp>
        <p:nvSpPr>
          <p:cNvPr id="12" name="Shape 9"/>
          <p:cNvSpPr/>
          <p:nvPr/>
        </p:nvSpPr>
        <p:spPr>
          <a:xfrm>
            <a:off x="7726680" y="3368845"/>
            <a:ext cx="201168" cy="20116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33558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Strategi </a:t>
            </a:r>
            <a:r>
              <a:rPr lang="en-US" sz="1200" dirty="0" err="1"/>
              <a:t>pengelolaan</a:t>
            </a:r>
            <a:r>
              <a:rPr lang="en-US" sz="1200" dirty="0"/>
              <a:t> </a:t>
            </a:r>
            <a:r>
              <a:rPr lang="en-US" sz="1200" dirty="0" err="1"/>
              <a:t>reservasi</a:t>
            </a:r>
            <a:r>
              <a:rPr lang="en-US" sz="1200" dirty="0"/>
              <a:t> </a:t>
            </a:r>
            <a:r>
              <a:rPr lang="en-US" sz="1200" dirty="0" err="1"/>
              <a:t>perlu</a:t>
            </a:r>
            <a:r>
              <a:rPr lang="en-US" sz="1200" dirty="0"/>
              <a:t> </a:t>
            </a:r>
            <a:r>
              <a:rPr lang="en-US" sz="1200" dirty="0" err="1"/>
              <a:t>didasarkan</a:t>
            </a:r>
            <a:r>
              <a:rPr lang="en-US" sz="1200" dirty="0"/>
              <a:t> pada </a:t>
            </a:r>
            <a:r>
              <a:rPr lang="en-US" sz="1200" dirty="0" err="1"/>
              <a:t>faktor-faktor</a:t>
            </a:r>
            <a:r>
              <a:rPr lang="en-US" sz="1200" dirty="0"/>
              <a:t> yang </a:t>
            </a:r>
            <a:r>
              <a:rPr lang="en-US" sz="1200" dirty="0" err="1"/>
              <a:t>terbukti</a:t>
            </a:r>
            <a:r>
              <a:rPr lang="en-US" sz="1200" dirty="0"/>
              <a:t> </a:t>
            </a:r>
            <a:r>
              <a:rPr lang="en-US" sz="1200" dirty="0" err="1"/>
              <a:t>berpengaruh</a:t>
            </a:r>
            <a:r>
              <a:rPr lang="en-US" sz="1200" dirty="0"/>
              <a:t>, </a:t>
            </a:r>
            <a:r>
              <a:rPr lang="en-US" sz="1200" dirty="0" err="1"/>
              <a:t>bukan</a:t>
            </a:r>
            <a:r>
              <a:rPr lang="en-US" sz="1200" dirty="0"/>
              <a:t> </a:t>
            </a:r>
            <a:r>
              <a:rPr lang="en-US" sz="1200" dirty="0" err="1"/>
              <a:t>sekadar</a:t>
            </a:r>
            <a:r>
              <a:rPr lang="en-US" sz="1200" dirty="0"/>
              <a:t> </a:t>
            </a:r>
            <a:r>
              <a:rPr lang="en-US" sz="1200" dirty="0" err="1"/>
              <a:t>asumsi</a:t>
            </a:r>
            <a:r>
              <a:rPr lang="en-US" sz="1200" dirty="0"/>
              <a:t>.</a:t>
            </a:r>
          </a:p>
        </p:txBody>
      </p:sp>
      <p:sp>
        <p:nvSpPr>
          <p:cNvPr id="14" name="Shape 11"/>
          <p:cNvSpPr/>
          <p:nvPr/>
        </p:nvSpPr>
        <p:spPr>
          <a:xfrm>
            <a:off x="7726680" y="4213460"/>
            <a:ext cx="201168" cy="20116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5" name="Text 12"/>
          <p:cNvSpPr/>
          <p:nvPr/>
        </p:nvSpPr>
        <p:spPr>
          <a:xfrm>
            <a:off x="8092440" y="4200463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/>
              <a:t>Pendekatan</a:t>
            </a:r>
            <a:r>
              <a:rPr lang="en-US" sz="1200" dirty="0"/>
              <a:t> Bayesian Logistic Regression </a:t>
            </a:r>
            <a:r>
              <a:rPr lang="en-US" sz="1200" dirty="0" err="1"/>
              <a:t>membantu</a:t>
            </a:r>
            <a:r>
              <a:rPr lang="en-US" sz="1200" dirty="0"/>
              <a:t> </a:t>
            </a:r>
            <a:r>
              <a:rPr lang="en-US" sz="1200" dirty="0" err="1"/>
              <a:t>mengidentifikasi</a:t>
            </a:r>
            <a:r>
              <a:rPr lang="en-US" sz="1200" dirty="0"/>
              <a:t> </a:t>
            </a:r>
            <a:r>
              <a:rPr lang="en-US" sz="1200" dirty="0" err="1"/>
              <a:t>faktor-faktor</a:t>
            </a:r>
            <a:r>
              <a:rPr lang="en-US" sz="1200" dirty="0"/>
              <a:t> yang </a:t>
            </a:r>
            <a:r>
              <a:rPr lang="en-US" sz="1200" dirty="0" err="1"/>
              <a:t>memengaruhi</a:t>
            </a:r>
            <a:r>
              <a:rPr lang="en-US" sz="1200" dirty="0"/>
              <a:t> </a:t>
            </a:r>
            <a:r>
              <a:rPr lang="en-US" sz="1200" dirty="0" err="1"/>
              <a:t>pembatalan</a:t>
            </a:r>
            <a:r>
              <a:rPr lang="en-US" sz="1200" dirty="0"/>
              <a:t> </a:t>
            </a:r>
            <a:r>
              <a:rPr lang="en-US" sz="1200" dirty="0" err="1"/>
              <a:t>pemesanan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informatif</a:t>
            </a:r>
            <a:r>
              <a:rPr lang="en-US" sz="1200" dirty="0"/>
              <a:t>.</a:t>
            </a:r>
          </a:p>
        </p:txBody>
      </p:sp>
      <p:sp>
        <p:nvSpPr>
          <p:cNvPr id="16" name="Shape 13"/>
          <p:cNvSpPr/>
          <p:nvPr/>
        </p:nvSpPr>
        <p:spPr>
          <a:xfrm>
            <a:off x="7726680" y="5038825"/>
            <a:ext cx="201168" cy="20116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7" name="Text 14"/>
          <p:cNvSpPr/>
          <p:nvPr/>
        </p:nvSpPr>
        <p:spPr>
          <a:xfrm>
            <a:off x="8092440" y="5016203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Hasil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dasar</a:t>
            </a:r>
            <a:r>
              <a:rPr lang="en-US" sz="1200" dirty="0"/>
              <a:t> </a:t>
            </a:r>
            <a:r>
              <a:rPr lang="en-US" sz="1200" dirty="0" err="1"/>
              <a:t>bagi</a:t>
            </a:r>
            <a:r>
              <a:rPr lang="en-US" sz="1200" dirty="0"/>
              <a:t> hotel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menyusun</a:t>
            </a:r>
            <a:r>
              <a:rPr lang="en-US" sz="1200" dirty="0"/>
              <a:t> strategi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mengurangi</a:t>
            </a:r>
            <a:r>
              <a:rPr lang="en-US" sz="1200" dirty="0"/>
              <a:t> </a:t>
            </a:r>
            <a:r>
              <a:rPr lang="en-US" sz="1200" dirty="0" err="1"/>
              <a:t>risiko</a:t>
            </a:r>
            <a:r>
              <a:rPr lang="en-US" sz="1200" dirty="0"/>
              <a:t> </a:t>
            </a:r>
            <a:r>
              <a:rPr lang="en-US" sz="1200" dirty="0" err="1"/>
              <a:t>pembatalan</a:t>
            </a:r>
            <a:r>
              <a:rPr lang="en-US" sz="1200" dirty="0"/>
              <a:t> </a:t>
            </a:r>
            <a:r>
              <a:rPr lang="en-US" sz="1200" dirty="0" err="1"/>
              <a:t>pemesanan</a:t>
            </a:r>
            <a:r>
              <a:rPr lang="en-US" sz="1200" dirty="0"/>
              <a:t>.</a:t>
            </a:r>
          </a:p>
        </p:txBody>
      </p:sp>
      <p:sp>
        <p:nvSpPr>
          <p:cNvPr id="18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&amp; Tujuan Penelitian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44144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karakteristik data pembatalan pemesanan hotel periode Februari 2015?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352044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17320" y="344728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Faktor-faktor apa saja yang memengaruhi pembatalan pemesanan hotel?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452628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44531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model Bayesian yang terbentuk dalam menganalisis faktor-faktor tersebut?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1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2880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Penelitian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62940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66294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132320" y="248348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Mendeskripsikan karakteristik data pembatalan pemesanan hotel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629400" y="3520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132320" y="349983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faktor-faktor yang memengaruhi pembatalan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629400" y="4526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2"/>
          <p:cNvSpPr/>
          <p:nvPr/>
        </p:nvSpPr>
        <p:spPr>
          <a:xfrm>
            <a:off x="66294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132320" y="449516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Membentuk model Bayesian untuk menganalisis faktor-faktor tersebut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TINJAUAN PUSTAKA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Metode Bayesian Logistic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379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mengestimasi parameter dengan menggabungkan distribusi prior dan likelihood data, menghasilkan distribusi posterior sebagai dasar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inferensi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berbeda dari regresi logistik klasik yang menggunakan Maximum Likelihood Estimation (MLE).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07899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>
            <a:solidFill>
              <a:srgbClr val="002060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914400" y="2697480"/>
                <a:ext cx="10058400" cy="10972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spcAft>
                    <a:spcPts val="800"/>
                  </a:spcAft>
                </a:pPr>
                <a:r>
                  <a:rPr lang="en-US" sz="1500" b="1" dirty="0">
                    <a:solidFill>
                      <a:srgbClr val="CADCFC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Fungsi Logit:   </a:t>
                </a:r>
                <a:r>
                  <a:rPr lang="en-US" sz="1500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log(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50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500" dirty="0">
                            <a:solidFill>
                              <a:srgbClr val="FFFFFF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500" dirty="0">
                            <a:solidFill>
                              <a:srgbClr val="FFFFFF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ᵢ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500" dirty="0">
                            <a:solidFill>
                              <a:srgbClr val="FFFFFF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(1−</m:t>
                        </m:r>
                        <m:r>
                          <m:rPr>
                            <m:nor/>
                          </m:rPr>
                          <a:rPr lang="en-US" sz="1500" dirty="0">
                            <a:solidFill>
                              <a:srgbClr val="FFFFFF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500" dirty="0">
                            <a:solidFill>
                              <a:srgbClr val="FFFFFF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ᵢ)</m:t>
                        </m:r>
                      </m:den>
                    </m:f>
                  </m:oMath>
                </a14:m>
                <a:r>
                  <a:rPr lang="en-US" sz="1500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) = β₀ + β₁X₁ᵢ + β₂X₂ᵢ + ... + βₖXₖᵢ</a:t>
                </a:r>
                <a:endParaRPr lang="en-US" sz="1500" dirty="0"/>
              </a:p>
              <a:p>
                <a:pPr marL="0" indent="0">
                  <a:spcAft>
                    <a:spcPts val="800"/>
                  </a:spcAft>
                  <a:buNone/>
                </a:pPr>
                <a:r>
                  <a:rPr lang="en-US" sz="1500" b="1" dirty="0">
                    <a:solidFill>
                      <a:srgbClr val="CADCFC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Distribusi Posterior:   </a:t>
                </a:r>
                <a:r>
                  <a:rPr lang="en-US" sz="1500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p(β ∣ y) ∝ L(β ∣ y) × p(β)</a:t>
                </a:r>
                <a:endParaRPr lang="en-US" sz="15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697480"/>
                <a:ext cx="10058400" cy="1097280"/>
              </a:xfrm>
              <a:prstGeom prst="rect">
                <a:avLst/>
              </a:prstGeom>
              <a:blipFill>
                <a:blip r:embed="rId3"/>
                <a:stretch>
                  <a:fillRect l="-115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548640" y="4206240"/>
            <a:ext cx="3456432" cy="1874520"/>
          </a:xfrm>
          <a:prstGeom prst="roundRect">
            <a:avLst>
              <a:gd name="adj" fmla="val 4878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434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4956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Distribution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53218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awal mengenai parameter sebelum melihat data sampel.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4206240"/>
            <a:ext cx="3456432" cy="1874520"/>
          </a:xfrm>
          <a:prstGeom prst="roundRect">
            <a:avLst>
              <a:gd name="adj" fmla="val 4878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44348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4956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Likelihood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62272" y="53218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yang diperoleh dari data sampel hasil pengamatan.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63840" y="4206240"/>
            <a:ext cx="3456432" cy="1874520"/>
          </a:xfrm>
          <a:prstGeom prst="roundRect">
            <a:avLst>
              <a:gd name="adj" fmla="val 4878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44348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19872" y="4956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Posterior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19872" y="53218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gabungan prior &amp; likelihood, dasar estimasi parameter &amp; interval kredibel.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METODOLOGI PENELITIAN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Jenis, Sumber Data &amp; Variabel Respon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4114800"/>
          </a:xfrm>
          <a:prstGeom prst="roundRect">
            <a:avLst>
              <a:gd name="adj" fmla="val 2073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6" name="Image 0" descr="icon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Jenis Penelitian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29809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kuantitatif deskriptif dengan metode statistika Bayesian, untuk menganalisis faktor-faktor pembatalan pemesanan hotel.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9584" cy="4114800"/>
          </a:xfrm>
          <a:prstGeom prst="roundRect">
            <a:avLst>
              <a:gd name="adj" fmla="val 2073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4296" y="2011680"/>
            <a:ext cx="685800" cy="68580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1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194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2880360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Data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08576" y="3337560"/>
            <a:ext cx="29809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sekunder dari platform Kaggle — dataset Hotel Booking Demand, dibatasi pada periode Februari 2015 (842 observasi).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9584" cy="4114800"/>
          </a:xfrm>
          <a:prstGeom prst="roundRect">
            <a:avLst>
              <a:gd name="adj" fmla="val 2073"/>
            </a:avLst>
          </a:prstGeom>
          <a:solidFill>
            <a:srgbClr val="002060"/>
          </a:solidFill>
          <a:ln>
            <a:solidFill>
              <a:srgbClr val="7030A0"/>
            </a:solidFill>
          </a:ln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9912" y="2011680"/>
            <a:ext cx="685800" cy="685800"/>
          </a:xfrm>
          <a:prstGeom prst="ellipse">
            <a:avLst/>
          </a:prstGeom>
          <a:solidFill>
            <a:srgbClr val="5FA8D3"/>
          </a:solidFill>
          <a:ln/>
        </p:spPr>
      </p:sp>
      <p:pic>
        <p:nvPicPr>
          <p:cNvPr id="16" name="Image 2" descr="icons/targe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1945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880360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Variabel Respon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94192" y="3337560"/>
            <a:ext cx="29809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is_canceled — status pembatalan pemesanan hotel: 1 (dibatalkan) dan 0 (tidak dibatalkan).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Keputusan — Bayesian Logistic Regression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Tahapan Metode Analisis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737360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icons/databas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7373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2728" y="173736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Pengumpulan Data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7512" y="2231136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diunduh dari dataset Hotel Booking Demand pada platform Kaggle.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15968" y="1572768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737360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2" name="Text 9"/>
          <p:cNvSpPr/>
          <p:nvPr/>
        </p:nvSpPr>
        <p:spPr>
          <a:xfrm>
            <a:off x="44805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icons/clipboard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7373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65776" y="173736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Persiapan Data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80560" y="2231136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variabel penelitian: is_canceled, lead_time, market_segment, customer_type, adr, total_of_special_requests.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9016" y="1572768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93608" y="1737360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8" name="Text 14"/>
          <p:cNvSpPr/>
          <p:nvPr/>
        </p:nvSpPr>
        <p:spPr>
          <a:xfrm>
            <a:off x="8293608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icons/filter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17373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78824" y="173736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Data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93608" y="2231136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data, penanganan missing value, dan transformasi variabel kategorik.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236976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7512" y="3401568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4" name="Text 19"/>
          <p:cNvSpPr/>
          <p:nvPr/>
        </p:nvSpPr>
        <p:spPr>
          <a:xfrm>
            <a:off x="667512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icons/chartbar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3401568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52728" y="340156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Deskriptif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67512" y="3895344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 data melalui tabel, ringkasan statistik, dan visualisasi.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15968" y="3236976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80560" y="3401568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0" name="Text 24"/>
          <p:cNvSpPr/>
          <p:nvPr/>
        </p:nvSpPr>
        <p:spPr>
          <a:xfrm>
            <a:off x="448056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icons/diagram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3401568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65776" y="340156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Pembentukan Model Bayesian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480560" y="3895344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pengaruh variabel prediktor terhadap status pembatalan.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29016" y="3236976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93608" y="3401568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6" name="Text 29"/>
          <p:cNvSpPr/>
          <p:nvPr/>
        </p:nvSpPr>
        <p:spPr>
          <a:xfrm>
            <a:off x="8293608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pic>
        <p:nvPicPr>
          <p:cNvPr id="37" name="Image 5" descr="icons/calculator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5408" y="3401568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878824" y="340156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Estimasi Parameter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8293608" y="3895344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Bayesian berdasarkan distribusi prior, likelihood, dan posterior.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02920" y="4901184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67512" y="5065776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42" name="Text 34"/>
          <p:cNvSpPr/>
          <p:nvPr/>
        </p:nvSpPr>
        <p:spPr>
          <a:xfrm>
            <a:off x="667512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pic>
        <p:nvPicPr>
          <p:cNvPr id="43" name="Image 6" descr="icons/balance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9312" y="5065776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252728" y="50657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 Kredibel 95%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667512" y="5559552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rentang nilai parameter posterior yang signifikan.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4315968" y="4901184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4480560" y="5065776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48" name="Text 39"/>
          <p:cNvSpPr/>
          <p:nvPr/>
        </p:nvSpPr>
        <p:spPr>
          <a:xfrm>
            <a:off x="448056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pic>
        <p:nvPicPr>
          <p:cNvPr id="49" name="Image 7" descr="icons/chartline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2360" y="5065776"/>
            <a:ext cx="292608" cy="29260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065776" y="50657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Hasil Model</a:t>
            </a:r>
            <a:endParaRPr lang="en-US" sz="1250" dirty="0"/>
          </a:p>
        </p:txBody>
      </p:sp>
      <p:sp>
        <p:nvSpPr>
          <p:cNvPr id="51" name="Text 41"/>
          <p:cNvSpPr/>
          <p:nvPr/>
        </p:nvSpPr>
        <p:spPr>
          <a:xfrm>
            <a:off x="4480560" y="5559552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kinerja model menggunakan kurva ROC dan nilai AUC.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8129016" y="4901184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EAF4FB"/>
          </a:solidFill>
          <a:ln/>
          <a:effectLst>
            <a:outerShdw blurRad="101600" dist="38100" dir="5400000" algn="bl" rotWithShape="0">
              <a:srgbClr val="1B4965">
                <a:alpha val="12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8293608" y="5065776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54" name="Text 44"/>
          <p:cNvSpPr/>
          <p:nvPr/>
        </p:nvSpPr>
        <p:spPr>
          <a:xfrm>
            <a:off x="8293608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pic>
        <p:nvPicPr>
          <p:cNvPr id="55" name="Image 8" descr="icons/bulb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65408" y="5065776"/>
            <a:ext cx="292608" cy="29260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878824" y="50657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Interpretasi Hasil</a:t>
            </a:r>
            <a:endParaRPr lang="en-US" sz="1250" dirty="0"/>
          </a:p>
        </p:txBody>
      </p:sp>
      <p:sp>
        <p:nvSpPr>
          <p:cNvPr id="57" name="Text 46"/>
          <p:cNvSpPr/>
          <p:nvPr/>
        </p:nvSpPr>
        <p:spPr>
          <a:xfrm>
            <a:off x="8293608" y="5559552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faktor-faktor yang memengaruhi pembatalan pemesanan hotel.</a:t>
            </a:r>
            <a:endParaRPr lang="en-US" sz="1100" dirty="0"/>
          </a:p>
        </p:txBody>
      </p:sp>
      <p:sp>
        <p:nvSpPr>
          <p:cNvPr id="58" name="Text 4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Keputusan — Bayesian Logistic Regression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 &amp;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Statistika Deskriptif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27105"/>
              </p:ext>
            </p:extLst>
          </p:nvPr>
        </p:nvGraphicFramePr>
        <p:xfrm>
          <a:off x="548640" y="1508760"/>
          <a:ext cx="10789919" cy="1615440"/>
        </p:xfrm>
        <a:graphic>
          <a:graphicData uri="http://schemas.openxmlformats.org/drawingml/2006/table">
            <a:tbl>
              <a:tblPr/>
              <a:tblGrid>
                <a:gridCol w="1541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Special Requests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37560"/>
            <a:ext cx="3456432" cy="2697480"/>
          </a:xfrm>
          <a:prstGeom prst="roundRect">
            <a:avLst>
              <a:gd name="adj" fmla="val 3390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611880"/>
            <a:ext cx="3456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56.94</a:t>
            </a:r>
            <a:endParaRPr lang="en-US" sz="4000" dirty="0"/>
          </a:p>
        </p:txBody>
      </p:sp>
      <p:sp>
        <p:nvSpPr>
          <p:cNvPr id="4" name="Text 4"/>
          <p:cNvSpPr/>
          <p:nvPr/>
        </p:nvSpPr>
        <p:spPr>
          <a:xfrm>
            <a:off x="731520" y="45262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Lead Time (hari)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02920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737 hari — variasi waktu pemesanan tinggi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3337560"/>
            <a:ext cx="3456432" cy="2697480"/>
          </a:xfrm>
          <a:prstGeom prst="roundRect">
            <a:avLst>
              <a:gd name="adj" fmla="val 3390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06240" y="3611880"/>
            <a:ext cx="3456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125.4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389120" y="45262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ADR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34840" y="502920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280.7 — variasi tarif kamar cukup beragam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63840" y="3337560"/>
            <a:ext cx="3456432" cy="2697480"/>
          </a:xfrm>
          <a:prstGeom prst="roundRect">
            <a:avLst>
              <a:gd name="adj" fmla="val 3390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0" y="3611880"/>
            <a:ext cx="3456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046720" y="45262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Special Requests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92440" y="502920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3 — umumnya permintaan khusus relatif rendah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 &amp;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Status Pembatalan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0350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554480"/>
            <a:ext cx="470916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903720" y="17830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71.14%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78040" y="25603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Dibatalkan — 599 dari 842 pemesanan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03720" y="3749040"/>
            <a:ext cx="4709160" cy="2011680"/>
          </a:xfrm>
          <a:prstGeom prst="roundRect">
            <a:avLst>
              <a:gd name="adj" fmla="val 4545"/>
            </a:avLst>
          </a:prstGeom>
          <a:solidFill>
            <a:srgbClr val="EAF1FF"/>
          </a:solidFill>
          <a:ln/>
        </p:spPr>
      </p:sp>
      <p:sp>
        <p:nvSpPr>
          <p:cNvPr id="9" name="Text 6"/>
          <p:cNvSpPr/>
          <p:nvPr/>
        </p:nvSpPr>
        <p:spPr>
          <a:xfrm>
            <a:off x="6903720" y="39776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28.86%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178040" y="47548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Dibatalkan — 243 dari 842 pemesanan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 &amp;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 Hubungan Variabel terhadap Pembatalan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6432" cy="2331720"/>
          </a:xfrm>
          <a:prstGeom prst="roundRect">
            <a:avLst>
              <a:gd name="adj" fmla="val 3922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Time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Positif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lebih tinggi pada kelompok dibatalkan — pemesanan jauh hari berisiko lebih tinggi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508760"/>
            <a:ext cx="3456432" cy="2331720"/>
          </a:xfrm>
          <a:prstGeom prst="roundRect">
            <a:avLst>
              <a:gd name="adj" fmla="val 3922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373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8348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3484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Positif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3484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kamar lebih tinggi berasosiasi dengan peluang pembatalan yang lebih besar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863840" y="1508760"/>
            <a:ext cx="3456432" cy="2331720"/>
          </a:xfrm>
          <a:prstGeom prst="roundRect">
            <a:avLst>
              <a:gd name="adj" fmla="val 3922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7373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1080" y="1719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Requests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09244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Negatif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9244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khusus lebih banyak menunjukkan komitmen reservasi lebih tinggi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1078992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7083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Variabel Kategorik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68680" y="489204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Online TA mendominasi jumlah pemesanan &amp; kontribusi pembatalan terbesar. Customer Type Transient juga mendominasi pemesanan dengan tingkat pembatalan tertinggi, sedangkan Group dan Transient-Party relatif jarang dibatalkan.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 &amp;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Estimasi Model Bayesian (Koefisien)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54546" y="1522476"/>
            <a:ext cx="1437894" cy="21031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6032754" y="1481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-3.747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837944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92440" y="1879092"/>
            <a:ext cx="9144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167695" y="18379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+0.00548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Corporate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2235708"/>
            <a:ext cx="210281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375873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+0.548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551176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Direct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2112" y="2592324"/>
            <a:ext cx="190328" cy="21031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7280320" y="25511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-0.496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907792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Groups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57984" y="2948940"/>
            <a:ext cx="234456" cy="21031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8" name="Text 16"/>
          <p:cNvSpPr/>
          <p:nvPr/>
        </p:nvSpPr>
        <p:spPr>
          <a:xfrm>
            <a:off x="7236192" y="29077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-0.611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26440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Offline TA/TO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2440" y="3305556"/>
            <a:ext cx="136606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302198" y="3264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+0.356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621024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Online 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92440" y="3662172"/>
            <a:ext cx="347271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512863" y="36210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97764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 Group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50389" y="4018788"/>
            <a:ext cx="442051" cy="21031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7" name="Text 25"/>
          <p:cNvSpPr/>
          <p:nvPr/>
        </p:nvSpPr>
        <p:spPr>
          <a:xfrm>
            <a:off x="7028597" y="3977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-1.152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334256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 Transient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4375404"/>
            <a:ext cx="429004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594596" y="4334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+1.118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4690872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 Transient-Party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95596" y="4732020"/>
            <a:ext cx="696844" cy="21031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3" name="Text 31"/>
          <p:cNvSpPr/>
          <p:nvPr/>
        </p:nvSpPr>
        <p:spPr>
          <a:xfrm>
            <a:off x="6773804" y="46908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-1.816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504748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92440" y="5088636"/>
            <a:ext cx="9144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8169069" y="50474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+0.00906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5404104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Special Requests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10016" y="5445252"/>
            <a:ext cx="82424" cy="21031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9" name="Text 37"/>
          <p:cNvSpPr/>
          <p:nvPr/>
        </p:nvSpPr>
        <p:spPr>
          <a:xfrm>
            <a:off x="7388224" y="54041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-0.215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92440" y="1435608"/>
            <a:ext cx="0" cy="4370832"/>
          </a:xfrm>
          <a:prstGeom prst="line">
            <a:avLst/>
          </a:prstGeom>
          <a:noFill/>
          <a:ln w="12700">
            <a:solidFill>
              <a:srgbClr val="C7CF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 &amp;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 Kredibel 95% — Variabel Signifikan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789920" cy="237744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 (+)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 (+)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Special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 (−)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Transient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 (+)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Transient-Party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 (−)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0520"/>
            <a:ext cx="10789920" cy="1920240"/>
          </a:xfrm>
          <a:prstGeom prst="roundRect">
            <a:avLst>
              <a:gd name="adj" fmla="val 4762"/>
            </a:avLst>
          </a:prstGeom>
          <a:solidFill>
            <a:srgbClr val="EAF1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07408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44074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Kriteria Signifikansi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68680" y="4908885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dikatakan berpengaruh signifikan apabila interval kredibel 95% tidak memuat nilai nol. Kelima variabel pada tabel di atas seluruhnya signifikan terhadap peluang pembatalan pemesanan hotel.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 &amp;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Model — ROC &amp; AUC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38912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0.7116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Moderat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160520"/>
            <a:ext cx="2743200" cy="0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891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mampu membedakan pemesanan yang dibatalkan dan tidak dibatalkan dengan performa klasifikasi yang cukup baik dan dapat diterima untuk analisis lebih lanjut.</a:t>
            </a:r>
            <a:endParaRPr lang="en-US" sz="115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1748484182"/>
              </p:ext>
            </p:extLst>
          </p:nvPr>
        </p:nvGraphicFramePr>
        <p:xfrm>
          <a:off x="4572000" y="1554480"/>
          <a:ext cx="67665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 · PENUTUP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85232" cy="2148840"/>
          </a:xfrm>
          <a:prstGeom prst="roundRect">
            <a:avLst>
              <a:gd name="adj" fmla="val 4255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3736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099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Karakteristik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 pemesanan: 71.14% tidak dibatalkan, 28.86% dibatalkan. Rata-rata lead time 56.94 hari, ADR 125.4 dan special request 0.76. 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508760"/>
            <a:ext cx="5285232" cy="2148840"/>
          </a:xfrm>
          <a:prstGeom prst="roundRect">
            <a:avLst>
              <a:gd name="adj" fmla="val 4255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73736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099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Arah Pengaruh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291072" y="2310065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ADR &amp; customer type Transient berpengaruh positif; special requests, Group &amp; Transient-Party berpengaruh negatif.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840480"/>
            <a:ext cx="5285232" cy="2148840"/>
          </a:xfrm>
          <a:prstGeom prst="roundRect">
            <a:avLst>
              <a:gd name="adj" fmla="val 4255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06908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41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Variabel Signifikan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04672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ADR, total special requests, customer type Transient &amp; Transient-Party signifikan (CI 95% tidak memuat nol).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35040" y="3840480"/>
            <a:ext cx="5285232" cy="2148840"/>
          </a:xfrm>
          <a:prstGeom prst="roundRect">
            <a:avLst>
              <a:gd name="adj" fmla="val 4255"/>
            </a:avLst>
          </a:prstGeom>
          <a:solidFill>
            <a:srgbClr val="EAF1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406908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4041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 Model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291072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sebesar 0.7116 menunjukkan kemampuan klasifikasi model pada kategori moderat.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— Pembatalan Pemesanan Hotel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 &amp; Penelitian Lanjutan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320040" cy="32004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26314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08483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Hotel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perlu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memberikan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perhatian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lebih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kepada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pelanggan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dengan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lead time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tinggi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dan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tipe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pelanggan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Transient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karena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memiliki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kecenderungan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lebih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besar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untuk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membatalkan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reservasi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.</a:t>
            </a:r>
            <a:endParaRPr lang="en-US" sz="13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77240" y="3108960"/>
            <a:ext cx="320040" cy="32004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1775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9923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Hotel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dapat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meningkatkan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komunikasi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dengan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pelanggan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seperti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mengirimkan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pengingat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(</a:t>
            </a:r>
            <a:r>
              <a:rPr lang="en-US" sz="1400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booking reminder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)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atau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melakukan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konfirmasi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ulang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menjelang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tanggal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kedatangan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terutama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bagi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pelanggan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dengan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risiko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pembatalan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yang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tinggi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.</a:t>
            </a:r>
            <a:endParaRPr lang="en-US" sz="13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777240" y="4023360"/>
            <a:ext cx="320040" cy="32004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409194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1363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Penelitian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selanjutnya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disarankan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menambahkan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variabel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lain yang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berkaitan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dengan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karakteristik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pelanggan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maupun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reservasi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agar model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dapat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menjelaskan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faktor-faktor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pembatalan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secara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lebih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komprehensif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.</a:t>
            </a:r>
            <a:endParaRPr lang="en-US" sz="13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77240" y="4937760"/>
            <a:ext cx="320040" cy="32004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50063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82803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Penelitian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selanjutnya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dapat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membandingkan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Bayesian Logistic Regression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dengan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metode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klasifikasi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lainnya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untuk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memperoleh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model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dengan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kemampuan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prediksi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yang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lebih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baik</a:t>
            </a: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.</a:t>
            </a:r>
            <a:endParaRPr lang="en-US" sz="13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731520" y="5986915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1299</Words>
  <Application>Microsoft Office PowerPoint</Application>
  <PresentationFormat>Widescreen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Pembatalan Pemesanan Hotel - Bayesian Logistic Regression</dc:title>
  <dc:subject>PptxGenJS Presentation</dc:subject>
  <dc:creator>Siti Lizatul Ibadah</dc:creator>
  <cp:lastModifiedBy>icha ibadah</cp:lastModifiedBy>
  <cp:revision>6</cp:revision>
  <dcterms:created xsi:type="dcterms:W3CDTF">2026-06-30T04:05:48Z</dcterms:created>
  <dcterms:modified xsi:type="dcterms:W3CDTF">2026-07-01T09:53:29Z</dcterms:modified>
</cp:coreProperties>
</file>